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  <p:sldId id="266" r:id="rId9"/>
    <p:sldId id="264" r:id="rId10"/>
    <p:sldId id="263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FFF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4C91-75CE-4800-A6E4-54CC4BB98CC6}" type="datetimeFigureOut">
              <a:rPr lang="en-ZA" smtClean="0"/>
              <a:t>2025/11/24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3D0E-658A-495E-AB70-E3C792C90E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71242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4C91-75CE-4800-A6E4-54CC4BB98CC6}" type="datetimeFigureOut">
              <a:rPr lang="en-ZA" smtClean="0"/>
              <a:t>2025/11/24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3D0E-658A-495E-AB70-E3C792C90E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8069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4C91-75CE-4800-A6E4-54CC4BB98CC6}" type="datetimeFigureOut">
              <a:rPr lang="en-ZA" smtClean="0"/>
              <a:t>2025/11/24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3D0E-658A-495E-AB70-E3C792C90E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9466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4C91-75CE-4800-A6E4-54CC4BB98CC6}" type="datetimeFigureOut">
              <a:rPr lang="en-ZA" smtClean="0"/>
              <a:t>2025/11/24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3D0E-658A-495E-AB70-E3C792C90E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075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4C91-75CE-4800-A6E4-54CC4BB98CC6}" type="datetimeFigureOut">
              <a:rPr lang="en-ZA" smtClean="0"/>
              <a:t>2025/11/24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3D0E-658A-495E-AB70-E3C792C90E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0737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4C91-75CE-4800-A6E4-54CC4BB98CC6}" type="datetimeFigureOut">
              <a:rPr lang="en-ZA" smtClean="0"/>
              <a:t>2025/11/24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3D0E-658A-495E-AB70-E3C792C90E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1038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4C91-75CE-4800-A6E4-54CC4BB98CC6}" type="datetimeFigureOut">
              <a:rPr lang="en-ZA" smtClean="0"/>
              <a:t>2025/11/24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3D0E-658A-495E-AB70-E3C792C90E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340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4C91-75CE-4800-A6E4-54CC4BB98CC6}" type="datetimeFigureOut">
              <a:rPr lang="en-ZA" smtClean="0"/>
              <a:t>2025/11/24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3D0E-658A-495E-AB70-E3C792C90E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1758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4C91-75CE-4800-A6E4-54CC4BB98CC6}" type="datetimeFigureOut">
              <a:rPr lang="en-ZA" smtClean="0"/>
              <a:t>2025/11/24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3D0E-658A-495E-AB70-E3C792C90E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7194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4C91-75CE-4800-A6E4-54CC4BB98CC6}" type="datetimeFigureOut">
              <a:rPr lang="en-ZA" smtClean="0"/>
              <a:t>2025/11/24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3D0E-658A-495E-AB70-E3C792C90E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05326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4C91-75CE-4800-A6E4-54CC4BB98CC6}" type="datetimeFigureOut">
              <a:rPr lang="en-ZA" smtClean="0"/>
              <a:t>2025/11/24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3D0E-658A-495E-AB70-E3C792C90E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8097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94C91-75CE-4800-A6E4-54CC4BB98CC6}" type="datetimeFigureOut">
              <a:rPr lang="en-ZA" smtClean="0"/>
              <a:t>2025/11/24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73D0E-658A-495E-AB70-E3C792C90E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317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096" y="457199"/>
            <a:ext cx="4188929" cy="2440746"/>
          </a:xfrm>
        </p:spPr>
        <p:txBody>
          <a:bodyPr>
            <a:normAutofit fontScale="90000"/>
          </a:bodyPr>
          <a:lstStyle/>
          <a:p>
            <a:r>
              <a:rPr lang="en-ZA" sz="36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Project: Anime </a:t>
            </a:r>
            <a:r>
              <a:rPr lang="en-ZA" sz="3600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Analytics Data Pipeline</a:t>
            </a:r>
            <a:r>
              <a:rPr lang="en-ZA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/>
            </a:r>
            <a:br>
              <a:rPr lang="en-ZA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</a:br>
            <a:r>
              <a:rPr lang="en-ZA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/>
            </a:r>
            <a:br>
              <a:rPr lang="en-ZA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</a:br>
            <a:r>
              <a:rPr lang="en-ZA" sz="2700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Data Engineering Portfolio Project</a:t>
            </a:r>
            <a:endParaRPr lang="en-ZA" sz="27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r="14381"/>
          <a:stretch>
            <a:fillRect/>
          </a:stretch>
        </p:blipFill>
        <p:spPr>
          <a:xfrm>
            <a:off x="5897216" y="1"/>
            <a:ext cx="6294783" cy="68580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3096" y="3429001"/>
            <a:ext cx="5128591" cy="100716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Demonstrating SQL proficiency and ETL pipeline development through a 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complete </a:t>
            </a:r>
            <a:r>
              <a:rPr lang="en-ZA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data </a:t>
            </a:r>
            <a:r>
              <a:rPr lang="en-ZA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engineering </a:t>
            </a:r>
            <a:r>
              <a:rPr lang="en-ZA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solution.</a:t>
            </a:r>
            <a:endParaRPr lang="en-ZA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79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8621"/>
            <a:ext cx="10515600" cy="814318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Project Overview</a:t>
            </a:r>
            <a:endParaRPr lang="en-ZA" sz="32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158948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Objective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Build a complete data engineering solution demonstrating SQL proficiency and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ETL pipeline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development with real-world anime recommendation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data.</a:t>
            </a:r>
          </a:p>
          <a:p>
            <a:pPr marL="0" indent="0">
              <a:buNone/>
            </a:pPr>
            <a:endParaRPr lang="en-GB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0" indent="0">
              <a:buNone/>
            </a:pPr>
            <a:r>
              <a:rPr lang="en-GB" sz="2400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Dataset Highlights</a:t>
            </a:r>
          </a:p>
          <a:p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12,294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anime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records spanning multiple genres and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formats.</a:t>
            </a:r>
          </a:p>
          <a:p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50,000+ user ratings providing rich analytical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insights.</a:t>
            </a:r>
          </a:p>
          <a:p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Complex data relationships enabling advanced query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patterns.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9757" y="1825625"/>
            <a:ext cx="3694042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Key Components</a:t>
            </a:r>
          </a:p>
          <a:p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SQL Analysis &amp; Complex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Queries</a:t>
            </a:r>
          </a:p>
          <a:p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Automated ETL Pipeline</a:t>
            </a:r>
          </a:p>
          <a:p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Cloud Storage Integration</a:t>
            </a:r>
          </a:p>
          <a:p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Interactive Dashboard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68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7162" y="10418"/>
            <a:ext cx="4865274" cy="543339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System Architecture</a:t>
            </a:r>
            <a:endParaRPr lang="en-ZA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9" r="14539"/>
          <a:stretch>
            <a:fillRect/>
          </a:stretch>
        </p:blipFill>
        <p:spPr>
          <a:xfrm>
            <a:off x="1" y="0"/>
            <a:ext cx="4996070" cy="6857999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28753" y="972900"/>
            <a:ext cx="5382884" cy="740350"/>
          </a:xfrm>
        </p:spPr>
        <p:txBody>
          <a:bodyPr>
            <a:normAutofit fontScale="32500" lnSpcReduction="20000"/>
          </a:bodyPr>
          <a:lstStyle/>
          <a:p>
            <a:r>
              <a:rPr lang="en-GB" sz="6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Data Sources</a:t>
            </a:r>
          </a:p>
          <a:p>
            <a:r>
              <a:rPr lang="en-GB" sz="4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CSV files containing anime records and user ratings.</a:t>
            </a:r>
            <a:endParaRPr lang="en-GB" sz="4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663" y="972900"/>
            <a:ext cx="909498" cy="7095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663" y="2218551"/>
            <a:ext cx="909498" cy="7095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28753" y="2157839"/>
            <a:ext cx="53828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ETL Pipeline</a:t>
            </a:r>
          </a:p>
          <a:p>
            <a:r>
              <a:rPr lang="en-GB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Extract, Transform, and Validate data with quality checks</a:t>
            </a:r>
            <a:r>
              <a:rPr lang="en-GB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.</a:t>
            </a:r>
            <a:endParaRPr lang="en-GB" sz="14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663" y="3464202"/>
            <a:ext cx="909498" cy="7095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28753" y="3464202"/>
            <a:ext cx="538288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Oracle Database</a:t>
            </a:r>
          </a:p>
          <a:p>
            <a:r>
              <a:rPr lang="en-GB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Structured storage with optimised schema design.</a:t>
            </a:r>
            <a:endParaRPr lang="en-GB" sz="15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663" y="4705510"/>
            <a:ext cx="909498" cy="8309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8752" y="4770565"/>
            <a:ext cx="502162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Dashboard</a:t>
            </a:r>
          </a:p>
          <a:p>
            <a:r>
              <a:rPr 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Interactive Streamlit visualization and monitoring.</a:t>
            </a:r>
            <a:endParaRPr lang="en-ZA" sz="1500" b="1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57663" y="5861484"/>
            <a:ext cx="666584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The architecture ensures data quality through automated validation, </a:t>
            </a:r>
            <a:r>
              <a:rPr lang="en-GB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maintains data </a:t>
            </a:r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integrity with comprehensive error handling, and provides cloud backup </a:t>
            </a:r>
            <a:r>
              <a:rPr lang="en-GB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for </a:t>
            </a:r>
            <a:r>
              <a:rPr lang="en-ZA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disaster </a:t>
            </a:r>
            <a:r>
              <a:rPr lang="en-ZA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recovery.</a:t>
            </a:r>
          </a:p>
        </p:txBody>
      </p:sp>
    </p:spTree>
    <p:extLst>
      <p:ext uri="{BB962C8B-B14F-4D97-AF65-F5344CB8AC3E}">
        <p14:creationId xmlns:p14="http://schemas.microsoft.com/office/powerpoint/2010/main" val="124112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2886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Technologies Stack</a:t>
            </a:r>
            <a:endParaRPr lang="en-ZA" sz="32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49275" y="1205947"/>
            <a:ext cx="5208105" cy="2491409"/>
          </a:xfrm>
          <a:prstGeom prst="rect">
            <a:avLst/>
          </a:prstGeom>
          <a:solidFill>
            <a:schemeClr val="bg1"/>
          </a:solidFill>
          <a:ln w="38100">
            <a:solidFill>
              <a:srgbClr val="FFFFFF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331303" y="1205947"/>
            <a:ext cx="5208105" cy="2491409"/>
          </a:xfrm>
          <a:prstGeom prst="rect">
            <a:avLst/>
          </a:prstGeom>
          <a:solidFill>
            <a:schemeClr val="bg1"/>
          </a:solidFill>
          <a:ln w="38100">
            <a:solidFill>
              <a:srgbClr val="FFFFFF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Rectangle 16"/>
          <p:cNvSpPr/>
          <p:nvPr/>
        </p:nvSpPr>
        <p:spPr>
          <a:xfrm>
            <a:off x="331303" y="4174433"/>
            <a:ext cx="5208105" cy="2491409"/>
          </a:xfrm>
          <a:prstGeom prst="rect">
            <a:avLst/>
          </a:prstGeom>
          <a:solidFill>
            <a:schemeClr val="bg1"/>
          </a:solidFill>
          <a:ln w="38100">
            <a:solidFill>
              <a:srgbClr val="FFFFFF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Rectangle 17"/>
          <p:cNvSpPr/>
          <p:nvPr/>
        </p:nvSpPr>
        <p:spPr>
          <a:xfrm>
            <a:off x="6649275" y="4174433"/>
            <a:ext cx="5208105" cy="2491409"/>
          </a:xfrm>
          <a:prstGeom prst="rect">
            <a:avLst/>
          </a:prstGeom>
          <a:solidFill>
            <a:schemeClr val="bg1"/>
          </a:solidFill>
          <a:ln w="38100">
            <a:solidFill>
              <a:srgbClr val="FFFFFF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9" name="TextBox 18"/>
          <p:cNvSpPr txBox="1"/>
          <p:nvPr/>
        </p:nvSpPr>
        <p:spPr>
          <a:xfrm>
            <a:off x="331302" y="1364974"/>
            <a:ext cx="5208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Database Layer</a:t>
            </a:r>
            <a:endParaRPr lang="en-ZA" sz="2400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1302" y="2451651"/>
            <a:ext cx="5208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Oracle Database XE for enterprise-grade data storage with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ACID compliance.</a:t>
            </a:r>
            <a:endParaRPr lang="en-ZA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49274" y="1364974"/>
            <a:ext cx="5112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Programming</a:t>
            </a:r>
            <a:endParaRPr lang="en-ZA" sz="2400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49274" y="2451651"/>
            <a:ext cx="5208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Python 3.8+ with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Pandas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,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OracleDb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, and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Streamlit libraries.</a:t>
            </a:r>
            <a:endParaRPr lang="en-ZA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1301" y="4383923"/>
            <a:ext cx="5208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ETL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300" y="5470600"/>
            <a:ext cx="5208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Custom Python pipeline with robust error handling, logging,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and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validation.</a:t>
            </a:r>
            <a:endParaRPr lang="en-ZA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49274" y="4383923"/>
            <a:ext cx="5208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Cloud &amp;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231" y="5420137"/>
            <a:ext cx="52081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Implemented a local file system that simulates AWS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S3/Azure Blob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storage with organised buckets, versioned backups,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and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comprehensive </a:t>
            </a:r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metadata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tracking.</a:t>
            </a:r>
            <a:endParaRPr lang="en-ZA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14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7584" y="132521"/>
            <a:ext cx="5552660" cy="516835"/>
          </a:xfrm>
        </p:spPr>
        <p:txBody>
          <a:bodyPr>
            <a:noAutofit/>
          </a:bodyPr>
          <a:lstStyle/>
          <a:p>
            <a:pPr algn="ctr"/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SQL Analysis Excellence</a:t>
            </a:r>
            <a:endParaRPr lang="en-ZA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64100" cy="6857999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9080" y="1146313"/>
            <a:ext cx="3379303" cy="5711687"/>
          </a:xfrm>
        </p:spPr>
        <p:txBody>
          <a:bodyPr>
            <a:normAutofit/>
          </a:bodyPr>
          <a:lstStyle/>
          <a:p>
            <a:r>
              <a:rPr lang="en-ZA" sz="2400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Complex Queries</a:t>
            </a:r>
          </a:p>
          <a:p>
            <a:r>
              <a:rPr lang="en-ZA" sz="2400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Implemented</a:t>
            </a:r>
          </a:p>
          <a:p>
            <a:endParaRPr lang="en-US" sz="1800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JOIN Operations (INNER, LEFT) 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for </a:t>
            </a:r>
            <a:r>
              <a:rPr lang="en-ZA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multi-table analysis.</a:t>
            </a:r>
            <a:endParaRPr lang="en-ZA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Aggregate </a:t>
            </a:r>
            <a:r>
              <a:rPr lang="en-ZA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Functions with </a:t>
            </a:r>
            <a:r>
              <a:rPr lang="en-ZA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GROUP BY/HAVING clauses.</a:t>
            </a:r>
            <a:endParaRPr lang="en-ZA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CTEs (Common Table </a:t>
            </a:r>
            <a:r>
              <a:rPr lang="en-ZA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Expressions) for </a:t>
            </a:r>
            <a:r>
              <a:rPr lang="en-ZA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readable </a:t>
            </a:r>
            <a:r>
              <a:rPr lang="en-ZA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queries.</a:t>
            </a:r>
            <a:endParaRPr lang="en-ZA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Full CRUD Operations with 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data </a:t>
            </a:r>
            <a:r>
              <a:rPr lang="en-ZA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integrity checks.</a:t>
            </a:r>
            <a:endParaRPr lang="en-ZA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Advanced Filtering &amp; Sorting </a:t>
            </a:r>
            <a:r>
              <a:rPr lang="en-ZA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with Subqueries.</a:t>
            </a:r>
            <a:endParaRPr lang="en-ZA" sz="18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13914" y="1146313"/>
            <a:ext cx="3405808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Key Insights </a:t>
            </a:r>
            <a:r>
              <a:rPr lang="en-ZA" sz="2400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Discovered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Highest Rated: "Kimi no Na wa</a:t>
            </a:r>
            <a:r>
              <a:rPr lang="pl-PL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.“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achieving 9.82/10.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Most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Common Format: TV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Shows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(3,671 anime).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Genre </a:t>
            </a:r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distribution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revealing viewer preferences.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Rating </a:t>
            </a:r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correlations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across categories </a:t>
            </a:r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and time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periods.</a:t>
            </a:r>
            <a:endParaRPr lang="en-ZA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48635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8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629938" cy="1020416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ETL Pipeline Design</a:t>
            </a:r>
            <a:endParaRPr lang="en-ZA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2278" y="1563757"/>
            <a:ext cx="416118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Bookman Old Style" panose="02050604050505020204" pitchFamily="18" charset="0"/>
              </a:rPr>
              <a:t>EXTRACT</a:t>
            </a:r>
            <a:endParaRPr lang="en-ZA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latin typeface="Bookman Old Style" panose="02050604050505020204" pitchFamily="18" charset="0"/>
              </a:rPr>
              <a:t>Source: Raw CSV </a:t>
            </a:r>
            <a:r>
              <a:rPr lang="en-ZA" sz="1600" dirty="0" smtClean="0">
                <a:latin typeface="Bookman Old Style" panose="02050604050505020204" pitchFamily="18" charset="0"/>
              </a:rPr>
              <a:t>files.</a:t>
            </a:r>
            <a:endParaRPr lang="en-ZA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latin typeface="Bookman Old Style" panose="02050604050505020204" pitchFamily="18" charset="0"/>
              </a:rPr>
              <a:t>12K+ anime </a:t>
            </a:r>
            <a:r>
              <a:rPr lang="en-ZA" sz="1600" dirty="0" smtClean="0">
                <a:latin typeface="Bookman Old Style" panose="02050604050505020204" pitchFamily="18" charset="0"/>
              </a:rPr>
              <a:t>records.</a:t>
            </a:r>
            <a:endParaRPr lang="en-ZA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latin typeface="Bookman Old Style" panose="02050604050505020204" pitchFamily="18" charset="0"/>
              </a:rPr>
              <a:t>5</a:t>
            </a:r>
            <a:r>
              <a:rPr lang="en-ZA" sz="1600" dirty="0" smtClean="0">
                <a:latin typeface="Bookman Old Style" panose="02050604050505020204" pitchFamily="18" charset="0"/>
              </a:rPr>
              <a:t>0K</a:t>
            </a:r>
            <a:r>
              <a:rPr lang="en-ZA" sz="1600" dirty="0">
                <a:latin typeface="Bookman Old Style" panose="02050604050505020204" pitchFamily="18" charset="0"/>
              </a:rPr>
              <a:t>+ user </a:t>
            </a:r>
            <a:r>
              <a:rPr lang="en-ZA" sz="1600" dirty="0" smtClean="0">
                <a:latin typeface="Bookman Old Style" panose="02050604050505020204" pitchFamily="18" charset="0"/>
              </a:rPr>
              <a:t>ratings.</a:t>
            </a:r>
            <a:endParaRPr lang="en-ZA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latin typeface="Bookman Old Style" panose="02050604050505020204" pitchFamily="18" charset="0"/>
              </a:rPr>
              <a:t>Initial validation &amp; </a:t>
            </a:r>
            <a:r>
              <a:rPr lang="en-ZA" sz="1600" dirty="0" smtClean="0">
                <a:latin typeface="Bookman Old Style" panose="02050604050505020204" pitchFamily="18" charset="0"/>
              </a:rPr>
              <a:t>sampling.</a:t>
            </a:r>
          </a:p>
          <a:p>
            <a:endParaRPr lang="en-US" dirty="0" smtClean="0">
              <a:latin typeface="Bookman Old Style" panose="02050604050505020204" pitchFamily="18" charset="0"/>
            </a:endParaRPr>
          </a:p>
          <a:p>
            <a:r>
              <a:rPr lang="en-ZA" b="1" dirty="0">
                <a:latin typeface="Bookman Old Style" panose="02050604050505020204" pitchFamily="18" charset="0"/>
              </a:rPr>
              <a:t>TRANSFORM</a:t>
            </a:r>
            <a:endParaRPr lang="en-ZA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latin typeface="Bookman Old Style" panose="02050604050505020204" pitchFamily="18" charset="0"/>
              </a:rPr>
              <a:t>Clean null values &amp; invalid </a:t>
            </a:r>
            <a:r>
              <a:rPr lang="en-ZA" sz="1600" dirty="0" smtClean="0">
                <a:latin typeface="Bookman Old Style" panose="02050604050505020204" pitchFamily="18" charset="0"/>
              </a:rPr>
              <a:t>entries.</a:t>
            </a:r>
            <a:endParaRPr lang="en-ZA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latin typeface="Bookman Old Style" panose="02050604050505020204" pitchFamily="18" charset="0"/>
              </a:rPr>
              <a:t>Create business </a:t>
            </a:r>
            <a:r>
              <a:rPr lang="en-ZA" sz="1600" dirty="0" smtClean="0">
                <a:latin typeface="Bookman Old Style" panose="02050604050505020204" pitchFamily="18" charset="0"/>
              </a:rPr>
              <a:t>metrics.</a:t>
            </a:r>
            <a:endParaRPr lang="en-ZA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latin typeface="Bookman Old Style" panose="02050604050505020204" pitchFamily="18" charset="0"/>
              </a:rPr>
              <a:t>Add quality </a:t>
            </a:r>
            <a:r>
              <a:rPr lang="en-ZA" sz="1600" dirty="0" smtClean="0">
                <a:latin typeface="Bookman Old Style" panose="02050604050505020204" pitchFamily="18" charset="0"/>
              </a:rPr>
              <a:t>flags.</a:t>
            </a:r>
            <a:endParaRPr lang="en-ZA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latin typeface="Bookman Old Style" panose="02050604050505020204" pitchFamily="18" charset="0"/>
              </a:rPr>
              <a:t>Standardize data </a:t>
            </a:r>
            <a:r>
              <a:rPr lang="en-ZA" sz="1600" dirty="0" smtClean="0">
                <a:latin typeface="Bookman Old Style" panose="02050604050505020204" pitchFamily="18" charset="0"/>
              </a:rPr>
              <a:t>types.</a:t>
            </a:r>
          </a:p>
          <a:p>
            <a:endParaRPr lang="en-US" dirty="0" smtClean="0">
              <a:latin typeface="Bookman Old Style" panose="02050604050505020204" pitchFamily="18" charset="0"/>
            </a:endParaRPr>
          </a:p>
          <a:p>
            <a:r>
              <a:rPr lang="en-GB" b="1" dirty="0">
                <a:latin typeface="Bookman Old Style" panose="02050604050505020204" pitchFamily="18" charset="0"/>
              </a:rPr>
              <a:t>LOAD</a:t>
            </a:r>
            <a:endParaRPr lang="en-GB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ookman Old Style" panose="02050604050505020204" pitchFamily="18" charset="0"/>
              </a:rPr>
              <a:t>Oracle database </a:t>
            </a:r>
            <a:r>
              <a:rPr lang="en-GB" sz="1600" dirty="0" smtClean="0">
                <a:latin typeface="Bookman Old Style" panose="02050604050505020204" pitchFamily="18" charset="0"/>
              </a:rPr>
              <a:t>storage.</a:t>
            </a:r>
            <a:endParaRPr lang="en-GB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ookman Old Style" panose="02050604050505020204" pitchFamily="18" charset="0"/>
              </a:rPr>
              <a:t>Staging tables with </a:t>
            </a:r>
            <a:r>
              <a:rPr lang="en-GB" sz="1600" dirty="0" smtClean="0">
                <a:latin typeface="Bookman Old Style" panose="02050604050505020204" pitchFamily="18" charset="0"/>
              </a:rPr>
              <a:t>validation.</a:t>
            </a:r>
            <a:endParaRPr lang="en-GB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ookman Old Style" panose="02050604050505020204" pitchFamily="18" charset="0"/>
              </a:rPr>
              <a:t>Automated cloud </a:t>
            </a:r>
            <a:r>
              <a:rPr lang="en-GB" sz="1600" dirty="0" smtClean="0">
                <a:latin typeface="Bookman Old Style" panose="02050604050505020204" pitchFamily="18" charset="0"/>
              </a:rPr>
              <a:t>backups.</a:t>
            </a:r>
            <a:endParaRPr lang="en-GB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ookman Old Style" panose="02050604050505020204" pitchFamily="18" charset="0"/>
              </a:rPr>
              <a:t>Metadata </a:t>
            </a:r>
            <a:r>
              <a:rPr lang="en-GB" sz="1600" dirty="0" smtClean="0">
                <a:latin typeface="Bookman Old Style" panose="02050604050505020204" pitchFamily="18" charset="0"/>
              </a:rPr>
              <a:t>tracking.</a:t>
            </a:r>
            <a:endParaRPr lang="en-GB" sz="1600" dirty="0">
              <a:latin typeface="Bookman Old Style" panose="0205060405050502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33461" y="1563757"/>
            <a:ext cx="329647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Bookman Old Style" panose="02050604050505020204" pitchFamily="18" charset="0"/>
              </a:rPr>
              <a:t>KEY FEATURES</a:t>
            </a:r>
            <a:endParaRPr lang="en-GB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ookman Old Style" panose="02050604050505020204" pitchFamily="18" charset="0"/>
              </a:rPr>
              <a:t>Modular &amp; fault-tolerant </a:t>
            </a:r>
            <a:r>
              <a:rPr lang="en-GB" sz="1600" dirty="0" smtClean="0">
                <a:latin typeface="Bookman Old Style" panose="02050604050505020204" pitchFamily="18" charset="0"/>
              </a:rPr>
              <a:t>design.</a:t>
            </a:r>
            <a:endParaRPr lang="en-GB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ookman Old Style" panose="02050604050505020204" pitchFamily="18" charset="0"/>
              </a:rPr>
              <a:t>Data quality </a:t>
            </a:r>
            <a:r>
              <a:rPr lang="en-GB" sz="1600" dirty="0" smtClean="0">
                <a:latin typeface="Bookman Old Style" panose="02050604050505020204" pitchFamily="18" charset="0"/>
              </a:rPr>
              <a:t>verification.</a:t>
            </a:r>
            <a:endParaRPr lang="en-GB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ookman Old Style" panose="02050604050505020204" pitchFamily="18" charset="0"/>
              </a:rPr>
              <a:t>Comprehensive </a:t>
            </a:r>
            <a:r>
              <a:rPr lang="en-GB" sz="1600" dirty="0" smtClean="0">
                <a:latin typeface="Bookman Old Style" panose="02050604050505020204" pitchFamily="18" charset="0"/>
              </a:rPr>
              <a:t>logging.</a:t>
            </a:r>
            <a:endParaRPr lang="en-GB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ookman Old Style" panose="02050604050505020204" pitchFamily="18" charset="0"/>
              </a:rPr>
              <a:t>Production-ready </a:t>
            </a:r>
            <a:r>
              <a:rPr lang="en-GB" sz="1600" dirty="0" smtClean="0">
                <a:latin typeface="Bookman Old Style" panose="02050604050505020204" pitchFamily="18" charset="0"/>
              </a:rPr>
              <a:t>structure.</a:t>
            </a:r>
            <a:endParaRPr lang="en-GB" sz="1600" dirty="0">
              <a:latin typeface="Bookman Old Style" panose="02050604050505020204" pitchFamily="18" charset="0"/>
            </a:endParaRPr>
          </a:p>
          <a:p>
            <a:endParaRPr lang="en-ZA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938" y="0"/>
            <a:ext cx="45620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584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8620"/>
            <a:ext cx="10515600" cy="668545"/>
          </a:xfrm>
        </p:spPr>
        <p:txBody>
          <a:bodyPr>
            <a:normAutofit fontScale="90000"/>
          </a:bodyPr>
          <a:lstStyle/>
          <a:p>
            <a:pPr algn="ctr"/>
            <a:r>
              <a:rPr lang="en-ZA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Overcoming Technical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791" y="1444487"/>
            <a:ext cx="5632174" cy="2213113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4" name="Rectangle 3"/>
          <p:cNvSpPr/>
          <p:nvPr/>
        </p:nvSpPr>
        <p:spPr>
          <a:xfrm>
            <a:off x="6274904" y="1444487"/>
            <a:ext cx="5632174" cy="2213113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Rectangle 4"/>
          <p:cNvSpPr/>
          <p:nvPr/>
        </p:nvSpPr>
        <p:spPr>
          <a:xfrm>
            <a:off x="251791" y="4253948"/>
            <a:ext cx="5632174" cy="2213113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ectangle 5"/>
          <p:cNvSpPr/>
          <p:nvPr/>
        </p:nvSpPr>
        <p:spPr>
          <a:xfrm>
            <a:off x="6274904" y="4253948"/>
            <a:ext cx="5632174" cy="2213113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/>
          <p:cNvSpPr txBox="1"/>
          <p:nvPr/>
        </p:nvSpPr>
        <p:spPr>
          <a:xfrm>
            <a:off x="251791" y="1590261"/>
            <a:ext cx="5632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Database Connection Issues</a:t>
            </a:r>
            <a:endParaRPr lang="en-ZA" sz="2000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791" y="2457271"/>
            <a:ext cx="54068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Implemented robust connection handling with automatic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error recovery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, connection pooling, and timeout management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to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ensure reliability</a:t>
            </a:r>
            <a:r>
              <a:rPr lang="en-ZA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.</a:t>
            </a:r>
            <a:endParaRPr lang="en-ZA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74904" y="1590261"/>
            <a:ext cx="5632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Data Quality Assurance</a:t>
            </a:r>
            <a:endParaRPr lang="en-ZA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74904" y="2457271"/>
            <a:ext cx="5632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Built comprehensive validation checks including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range verification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, null handling, and duplicate detection with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detailed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data cleaning procedures.</a:t>
            </a:r>
            <a:endParaRPr lang="en-ZA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791" y="4399722"/>
            <a:ext cx="5632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Unicode/Encoding Problems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791" y="5266732"/>
            <a:ext cx="56321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Standardized text handling across the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pipeline,</a:t>
            </a:r>
          </a:p>
          <a:p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Implemented UTF-8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encoding, and removed problematic characters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to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support </a:t>
            </a:r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international anime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titles.</a:t>
            </a:r>
            <a:endParaRPr lang="en-ZA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74904" y="4399722"/>
            <a:ext cx="5632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Pipeline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4904" y="5266732"/>
            <a:ext cx="5632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Implemented detailed logging system with status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tracking, performance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metrics, and alert notifications for proactive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issue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resolution.</a:t>
            </a:r>
            <a:endParaRPr lang="en-ZA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342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5612295" cy="602398"/>
          </a:xfrm>
        </p:spPr>
        <p:txBody>
          <a:bodyPr>
            <a:noAutofit/>
          </a:bodyPr>
          <a:lstStyle/>
          <a:p>
            <a:r>
              <a:rPr lang="en-ZA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Results &amp; Business Value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26" b="13426"/>
          <a:stretch>
            <a:fillRect/>
          </a:stretch>
        </p:blipFill>
        <p:spPr>
          <a:xfrm>
            <a:off x="8163338" y="0"/>
            <a:ext cx="4028662" cy="6858000"/>
          </a:xfrm>
        </p:spPr>
      </p:pic>
      <p:sp>
        <p:nvSpPr>
          <p:cNvPr id="9" name="TextBox 8"/>
          <p:cNvSpPr txBox="1"/>
          <p:nvPr/>
        </p:nvSpPr>
        <p:spPr>
          <a:xfrm>
            <a:off x="0" y="879397"/>
            <a:ext cx="255104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5</a:t>
            </a:r>
            <a:r>
              <a:rPr lang="en-US" sz="6000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0k</a:t>
            </a: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+</a:t>
            </a:r>
            <a:endParaRPr lang="en-ZA" sz="60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  <a:p>
            <a:pPr algn="ctr"/>
            <a:endParaRPr lang="en-ZA" b="1" dirty="0" smtClean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en-ZA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Records</a:t>
            </a:r>
            <a:endParaRPr lang="en-ZA" b="1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en-ZA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Processed</a:t>
            </a:r>
          </a:p>
          <a:p>
            <a:pPr algn="ctr"/>
            <a:endParaRPr lang="en-ZA" b="1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Pipeline efficiently handles large-scale data operations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.</a:t>
            </a:r>
            <a:endParaRPr lang="en-US" sz="7200" b="1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06146" y="879396"/>
            <a:ext cx="255104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100</a:t>
            </a:r>
            <a:r>
              <a:rPr lang="en-US" sz="6000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%</a:t>
            </a:r>
          </a:p>
          <a:p>
            <a:pPr algn="ctr"/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Data Integrity</a:t>
            </a:r>
          </a:p>
          <a:p>
            <a:pPr algn="ctr"/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algn="ct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No critical data quality</a:t>
            </a:r>
          </a:p>
          <a:p>
            <a:pPr algn="ctr"/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issues in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production.</a:t>
            </a:r>
            <a:endParaRPr lang="en-ZA" sz="1600" b="1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12294" y="879396"/>
            <a:ext cx="239201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3</a:t>
            </a:r>
            <a:endParaRPr lang="en-ZA" sz="60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  <a:p>
            <a:pPr algn="ctr"/>
            <a:endParaRPr lang="en-US" b="1" dirty="0" smtClean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Data Source</a:t>
            </a:r>
          </a:p>
          <a:p>
            <a:pPr algn="ctr"/>
            <a:endParaRPr lang="en-US" sz="1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Unified view across</a:t>
            </a:r>
          </a:p>
          <a:p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multiple data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streams.</a:t>
            </a:r>
            <a:endParaRPr lang="en-ZA" sz="1600" b="1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56" y="4359966"/>
            <a:ext cx="766969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2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Business </a:t>
            </a:r>
            <a:r>
              <a:rPr lang="en-ZA" sz="3200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Impact</a:t>
            </a:r>
          </a:p>
          <a:p>
            <a:endParaRPr lang="en-ZA" dirty="0"/>
          </a:p>
          <a:p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Created a robust foundation for anime recommendation systems with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scalable architecture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supporting future growth.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The repeatable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ETL process enables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rapid deployment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for similar projects, while optimized SQL queries deliver insights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in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seconds </a:t>
            </a:r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rather than minutes.</a:t>
            </a:r>
          </a:p>
        </p:txBody>
      </p:sp>
    </p:spTree>
    <p:extLst>
      <p:ext uri="{BB962C8B-B14F-4D97-AF65-F5344CB8AC3E}">
        <p14:creationId xmlns:p14="http://schemas.microsoft.com/office/powerpoint/2010/main" val="121839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162261" cy="503583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Live System Demonstration</a:t>
            </a:r>
            <a:endParaRPr lang="en-ZA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459" y="1656522"/>
            <a:ext cx="4701454" cy="172218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3583"/>
            <a:ext cx="6162261" cy="210709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10678"/>
            <a:ext cx="6162261" cy="206566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76339"/>
            <a:ext cx="6162261" cy="22332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60459" y="980661"/>
            <a:ext cx="470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Anime Data Models</a:t>
            </a:r>
            <a:endParaRPr lang="en-ZA" b="1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459" y="3378710"/>
            <a:ext cx="4701454" cy="172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54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105" y="0"/>
            <a:ext cx="10919792" cy="1325563"/>
          </a:xfrm>
        </p:spPr>
        <p:txBody>
          <a:bodyPr>
            <a:normAutofit/>
          </a:bodyPr>
          <a:lstStyle/>
          <a:p>
            <a:r>
              <a:rPr lang="en-ZA" sz="32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Skills Demonstrated &amp; Future </a:t>
            </a:r>
            <a:r>
              <a:rPr lang="en-ZA" sz="3200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Vision</a:t>
            </a:r>
            <a:endParaRPr lang="en-ZA" sz="3200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6105" y="1563757"/>
            <a:ext cx="471777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Technical Skills Acquired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SQL Mastery:</a:t>
            </a:r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 Query optimization, complex joins, CTEs, and performance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tuning.</a:t>
            </a:r>
            <a:endParaRPr lang="en-ZA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ETL Engineering:</a:t>
            </a:r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 Automated data pipelines with quality validation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frameworks.</a:t>
            </a:r>
            <a:endParaRPr lang="en-ZA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Cloud Integration:</a:t>
            </a:r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 AWS S3/Azure Blob Storage for data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persistence.</a:t>
            </a:r>
            <a:endParaRPr lang="en-ZA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Data Visualization:</a:t>
            </a:r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 Interactive dashboards using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Streamlit.</a:t>
            </a:r>
            <a:endParaRPr lang="en-ZA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Python Development:</a:t>
            </a:r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 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Pandas, OracleDB, and data processing libraries.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r>
              <a:rPr lang="en-ZA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Career </a:t>
            </a:r>
            <a:r>
              <a:rPr lang="en-ZA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Impact</a:t>
            </a:r>
          </a:p>
          <a:p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This project serves as a compelling portfolio piece demonstrating full-stack data engineering expertise, from raw data ingestion through cloud deployment and visualization.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1" y="1577009"/>
            <a:ext cx="5618921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Future </a:t>
            </a:r>
            <a:r>
              <a:rPr lang="en-GB" sz="2000" b="1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Enhancements</a:t>
            </a:r>
          </a:p>
          <a:p>
            <a:endParaRPr lang="en-GB" sz="20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  <a:p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Short-term goals</a:t>
            </a:r>
            <a:r>
              <a:rPr lang="en-GB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:</a:t>
            </a:r>
            <a:endParaRPr lang="en-GB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Deploy to AWS/Azure cloud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platform.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Implement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Airflow for </a:t>
            </a:r>
            <a:r>
              <a:rPr lang="en-ZA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pipeline </a:t>
            </a:r>
            <a:r>
              <a:rPr lang="en-ZA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orchestration and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Enhance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dashboard with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predictive analytics.</a:t>
            </a:r>
          </a:p>
          <a:p>
            <a:endParaRPr lang="en-GB" dirty="0">
              <a:latin typeface="Bookman Old Style" panose="02050604050505020204" pitchFamily="18" charset="0"/>
            </a:endParaRPr>
          </a:p>
          <a:p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Long-term vision</a:t>
            </a:r>
            <a:r>
              <a:rPr lang="en-GB" dirty="0" smtClean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:</a:t>
            </a:r>
            <a:endParaRPr lang="en-GB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Real-time data streaming with Apache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Kafka.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Machine learning recommendation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engine.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Containerization with Docker and </a:t>
            </a: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Kubernetes.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786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311310" cy="6858000"/>
          </a:xfrm>
        </p:spPr>
      </p:pic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5406889" y="2544142"/>
            <a:ext cx="5698434" cy="176971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0" b="1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Bookman Old Style" panose="02050604050505020204" pitchFamily="18" charset="0"/>
              </a:rPr>
              <a:t>Arigatō</a:t>
            </a:r>
            <a:r>
              <a:rPr kumimoji="0" lang="en-US" altLang="en-US" sz="115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Bookman Old Style" panose="0205060405050502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805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2089</TotalTime>
  <Words>712</Words>
  <Application>Microsoft Office PowerPoint</Application>
  <PresentationFormat>Widescreen</PresentationFormat>
  <Paragraphs>131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Calibri</vt:lpstr>
      <vt:lpstr>Calibri Light</vt:lpstr>
      <vt:lpstr>Office Theme</vt:lpstr>
      <vt:lpstr>Project: Anime Analytics Data Pipeline  Data Engineering Portfolio Project</vt:lpstr>
      <vt:lpstr>Project Overview</vt:lpstr>
      <vt:lpstr>System Architecture</vt:lpstr>
      <vt:lpstr>Technologies Stack</vt:lpstr>
      <vt:lpstr>SQL Analysis Excellence</vt:lpstr>
      <vt:lpstr>ETL Pipeline Design</vt:lpstr>
      <vt:lpstr>Overcoming Technical Challenges</vt:lpstr>
      <vt:lpstr>Results &amp; Business Value</vt:lpstr>
      <vt:lpstr>Live System Demonstration</vt:lpstr>
      <vt:lpstr>Skills Demonstrated &amp; Future Vision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mothibetieho019@gmail.com</dc:creator>
  <cp:lastModifiedBy>mothibetieho019@gmail.com</cp:lastModifiedBy>
  <cp:revision>80</cp:revision>
  <dcterms:created xsi:type="dcterms:W3CDTF">2025-11-22T02:43:39Z</dcterms:created>
  <dcterms:modified xsi:type="dcterms:W3CDTF">2025-11-24T20:00:54Z</dcterms:modified>
</cp:coreProperties>
</file>